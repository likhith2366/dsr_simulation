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D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88952" cy="548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DSR Simulator — This Week's Updates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9688"/>
                </a:solidFill>
              </a:rPr>
              <a:t>IEEE-13 New Network  ·  Topology, Section Logic, Switch Assumptions &amp; Search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015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AABB"/>
                </a:solidFill>
              </a:rPr>
              <a:t>Real edge distances  ·  5-area sections  ·  Switch robustness  ·  Full outage zone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069080"/>
            <a:ext cx="2514600" cy="100584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14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9688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709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BBCC"/>
                </a:solidFill>
              </a:rPr>
              <a:t>Sections Defined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79" y="4069080"/>
            <a:ext cx="2514600" cy="100584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79" y="4114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9688"/>
                </a:solidFill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4709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BBCC"/>
                </a:solidFill>
              </a:rPr>
              <a:t>Switches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4069080"/>
            <a:ext cx="2514600" cy="100584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4114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9688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709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BBCC"/>
                </a:solidFill>
              </a:rPr>
              <a:t>Agent Types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4069080"/>
            <a:ext cx="2514600" cy="100584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19" y="4114800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9688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70916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BBCC"/>
                </a:solidFill>
              </a:rPr>
              <a:t>Simulation 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875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NYU Tandon School of Engineering  ▸  SAI Lab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5687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AAABB"/>
                </a:solidFill>
              </a:rP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IEEE-13 New Network — Updated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9688"/>
                </a:solidFill>
              </a:rPr>
              <a:t>Current network layout after all changes  ·  Case 1 initial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455664"/>
            <a:ext cx="1188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AABB"/>
                </a:solidFill>
              </a:rPr>
              <a:t>NYU Tandon  ▸  SAI Lab  ▸  DSR Multi-Agent Simulator  ▸  IEEE-13 New Network</a:t>
            </a:r>
          </a:p>
        </p:txBody>
      </p:sp>
      <p:pic>
        <p:nvPicPr>
          <p:cNvPr id="7" name="Picture 6" descr="Case1_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234440"/>
            <a:ext cx="7863840" cy="5349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183879" y="1261872"/>
            <a:ext cx="3858768" cy="5321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83879" y="1261872"/>
            <a:ext cx="64008" cy="53218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0183" y="1335024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688"/>
                </a:solidFill>
              </a:rPr>
              <a:t>What Changed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30183" y="1810512"/>
            <a:ext cx="749808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0183" y="1828800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TOPOLOGY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837943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Area5 electrical chain: N13 → V3 → V2 → V1 → S6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0183" y="2247595"/>
            <a:ext cx="749808" cy="3200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3" y="2265883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TOPOLOGY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2275027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V2–N12 and N9–V4: road-only (no electrical)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0183" y="2684678"/>
            <a:ext cx="749808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2702966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TOPOLOGY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2712110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V3–V4 road removed entirely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30183" y="3121761"/>
            <a:ext cx="749808" cy="3200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3" y="3140049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DISTANCE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4855" y="3149193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All edge distances updated to real network values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0183" y="3558844"/>
            <a:ext cx="749808" cy="3200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3577132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DISTANCE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5" y="3586276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Switch-to-node distance = 0.001 km (assumed robust)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30183" y="3995927"/>
            <a:ext cx="749808" cy="320040"/>
          </a:xfrm>
          <a:prstGeom prst="rect">
            <a:avLst/>
          </a:prstGeom>
          <a:solidFill>
            <a:srgbClr val="6C3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4014215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5" y="4023359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2 sections → 5 areas (Area1–5, one switch each)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30183" y="4433011"/>
            <a:ext cx="749808" cy="320040"/>
          </a:xfrm>
          <a:prstGeom prst="rect">
            <a:avLst/>
          </a:prstGeom>
          <a:solidFill>
            <a:srgbClr val="6C3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4451299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34855" y="4460443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V4 removed from Area3 — tie endpoint, no load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30183" y="4870094"/>
            <a:ext cx="749808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0183" y="4888382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FIXED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5" y="4897526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Node faults no longer mark adjacent switch as faulted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30183" y="5307177"/>
            <a:ext cx="749808" cy="3200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0183" y="5325465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SEARCH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4855" y="5334609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Agents search until full restoration, not just discovery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30183" y="5744260"/>
            <a:ext cx="749808" cy="3200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0183" y="5762548"/>
            <a:ext cx="749808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VISUAL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34855" y="5771692"/>
            <a:ext cx="274320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55"/>
                </a:solidFill>
              </a:rPr>
              <a:t>Agent paths drawn behind electrical edges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Section Structure — 5 Sections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9688"/>
                </a:solidFill>
              </a:rPr>
              <a:t>Each closed sectionalizer (S1–S5) defines a protection boundary  ·  Before: only 2 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455664"/>
            <a:ext cx="1188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AABB"/>
                </a:solidFill>
              </a:rPr>
              <a:t>NYU Tandon  ▸  SAI Lab  ▸  DSR Multi-Agent Simulator  ▸  IEEE-13 New Network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61872"/>
            <a:ext cx="5303520" cy="5321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64008" cy="532180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3502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A"/>
                </a:solidFill>
              </a:rPr>
              <a:t>Before vs 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7556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BEFORE — only 2 sections defined: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2996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Section A: N1,N2,N6,N7,N4,N5  →  S1 trips (total blackout)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30428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Section B: N3,N8,N9,N10–N13,V1–V3  →  S3 trips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5786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S2, S4, S5 had no section protection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272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AFTER — 5 areas, one per protection switch: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0156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Area1: N2,N6,N7  →  S1 trips  →  total blackout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67588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Area2: N4,N5  →  S2 trips  →  Area2 dark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9502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Area3: N8,N9  →  S4 trips  →  Area3 dark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22452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Area4: N3,N10,N11,N12  →  S3 trips  →  Area4 dark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4988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Area5: V1,V2,V3,N13  →  S5 trips  →  Area5 dark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504748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688"/>
                </a:solidFill>
              </a:rPr>
              <a:t>Rule: fault in Area1/2 → S1 trips → total blackout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53218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fault in Area3/4/5 → only that area goes dark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55961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55"/>
                </a:solidFill>
              </a:rPr>
              <a:t>  Switch-to-node distance = 0.001 km (assumed robust)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1261872"/>
            <a:ext cx="6108192" cy="5321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06440" y="1261872"/>
            <a:ext cx="64008" cy="5321808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032" y="133502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A"/>
                </a:solidFill>
              </a:rPr>
              <a:t>Section Breakdown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88736" y="1792224"/>
            <a:ext cx="886968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25312" y="1819656"/>
            <a:ext cx="8503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03720" y="1792224"/>
            <a:ext cx="1088136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0296" y="1819656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Switch
Trips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1792224"/>
            <a:ext cx="1097280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8" y="1819656"/>
            <a:ext cx="1060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Nodes Affected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45168" y="1792224"/>
            <a:ext cx="1097280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81744" y="1819656"/>
            <a:ext cx="106070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Fault Scope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61320" y="1792224"/>
            <a:ext cx="1179576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97896" y="1819656"/>
            <a:ext cx="1143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Cases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88736" y="2286000"/>
            <a:ext cx="886968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3720" y="2286000"/>
            <a:ext cx="108813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19872" y="2286000"/>
            <a:ext cx="10972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45168" y="2286000"/>
            <a:ext cx="10972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561320" y="2286000"/>
            <a:ext cx="11795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25312" y="2313432"/>
            <a:ext cx="850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392B"/>
                </a:solidFill>
              </a:rPr>
              <a:t>Area1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0296" y="2313432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S1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6448" y="2313432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N2, N6, N7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81744" y="2313432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</a:rPr>
              <a:t>Total blackout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97896" y="2313432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3,4,5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88736" y="2816352"/>
            <a:ext cx="886968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903720" y="2816352"/>
            <a:ext cx="1088136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19872" y="2816352"/>
            <a:ext cx="1097280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345168" y="2816352"/>
            <a:ext cx="1097280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61320" y="2816352"/>
            <a:ext cx="1179576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5312" y="2843784"/>
            <a:ext cx="850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65C00"/>
                </a:solidFill>
              </a:rPr>
              <a:t>Area2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0296" y="2843784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S2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2843784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N4, N5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81744" y="2843784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</a:rPr>
              <a:t>Area2 dark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97896" y="2843784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3,5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88736" y="3346704"/>
            <a:ext cx="886968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903720" y="3346704"/>
            <a:ext cx="108813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19872" y="3346704"/>
            <a:ext cx="10972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345168" y="3346704"/>
            <a:ext cx="10972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561320" y="3346704"/>
            <a:ext cx="11795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25312" y="3374135"/>
            <a:ext cx="850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9688"/>
                </a:solidFill>
              </a:rPr>
              <a:t>Area3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40296" y="3374135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S4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6448" y="3374135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N8, N9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81744" y="3374135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</a:rPr>
              <a:t>Area3 dark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97896" y="3374135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1,4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88736" y="3877056"/>
            <a:ext cx="886968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3720" y="3877056"/>
            <a:ext cx="1088136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119872" y="3877056"/>
            <a:ext cx="1097280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345168" y="3877056"/>
            <a:ext cx="1097280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61320" y="3877056"/>
            <a:ext cx="1179576" cy="512064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25312" y="3904487"/>
            <a:ext cx="850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6C358A"/>
                </a:solidFill>
              </a:rPr>
              <a:t>Area4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0296" y="3904487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S3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56448" y="3904487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N3,N10,N11,N12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81744" y="3904487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</a:rPr>
              <a:t>Area4 dark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97896" y="3904487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1,2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88736" y="4407408"/>
            <a:ext cx="886968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03720" y="4407408"/>
            <a:ext cx="108813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19872" y="4407408"/>
            <a:ext cx="10972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345168" y="4407408"/>
            <a:ext cx="10972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561320" y="4407408"/>
            <a:ext cx="1179576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25312" y="4434840"/>
            <a:ext cx="8503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7AE60"/>
                </a:solidFill>
              </a:rPr>
              <a:t>Area5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40296" y="443484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S5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56448" y="4434840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V1,V2,V3,N13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81744" y="4434840"/>
            <a:ext cx="1060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392B"/>
                </a:solidFill>
              </a:rPr>
              <a:t>Area5 dark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97896" y="4434840"/>
            <a:ext cx="1143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55"/>
                </a:solidFill>
              </a:rPr>
              <a:t>2,5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06440" y="4974336"/>
            <a:ext cx="6108192" cy="1609344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806440" y="4974336"/>
            <a:ext cx="64008" cy="1609344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71032" y="5047488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Protection Hierarchy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71032" y="541324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▸  S1 trips: entire grid dark (Area1 fault → total blackout)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71032" y="564184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▸  S3 trips: Area4 dark — Areas 1,2,3,5 stay live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71032" y="587044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▸  S4 trips: only Area3 (N8,N9) dark — rest stays live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71032" y="609904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▸  S5 trips: only N13 dark — rest of B stays live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71032" y="6327648"/>
            <a:ext cx="5669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▸  S2 trips: only N4, N5 dark — rest of A stays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Agent Search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9688"/>
                </a:solidFill>
              </a:rPr>
              <a:t>Greedy nearest-neighbour on Dijkstra shortest paths  ·  Shared visited state across all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455664"/>
            <a:ext cx="1188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AABB"/>
                </a:solidFill>
              </a:rPr>
              <a:t>NYU Tandon  ▸  SAI Lab  ▸  DSR Multi-Agent Simulator  ▸  IEEE-13 New Network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61872"/>
            <a:ext cx="3758184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64008" cy="29260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3" y="1371600"/>
            <a:ext cx="35570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688"/>
                </a:solidFill>
              </a:rPr>
              <a:t>Scout — Pure 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3" y="1783079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Finds nearest unvisited node in outage 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" y="2075687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Uses Dijkstra on TGraph (road network)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3" y="2368295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Marks node visited on arrival → picks 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3" y="2660903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Shares global_visited with all RCs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" y="2953511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Speed: 10 km/h — fastest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3" y="3246119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Never repairs — only discovers faults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" y="3538727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Keeps searching until full grid restoration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15384" y="1261872"/>
            <a:ext cx="3758184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5384" y="1261872"/>
            <a:ext cx="64008" cy="2926080"/>
          </a:xfrm>
          <a:prstGeom prst="rect">
            <a:avLst/>
          </a:prstGeom>
          <a:solidFill>
            <a:srgbClr val="6C3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1688" y="1371600"/>
            <a:ext cx="35570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C358A"/>
                </a:solidFill>
              </a:rPr>
              <a:t>RC — Repair +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1783079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Priority 1: move to discovered active fault → repair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075687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Priority 2: if no known fault → search like Scout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68295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AAABB"/>
                </a:solidFill>
              </a:rPr>
              <a:t>    (nearest unvisited in outage zone)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2660903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Redirected mid-travel when new fault discovered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953511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For edge faults: traverses cable to midpoint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246119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Respects fault capacity cap (max RCs per fault)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538727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Stops searching when resources exhausted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56448" y="1261872"/>
            <a:ext cx="3758184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56448" y="1261872"/>
            <a:ext cx="64008" cy="29260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752" y="1371600"/>
            <a:ext cx="35570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MPS — Backup Power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83079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Scores every unpowered node by BFS load 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2075687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Moves to node that restores the most loads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368295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Connects only when section confirmed safe: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660903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AAABB"/>
                </a:solidFill>
              </a:rPr>
              <a:t>    All section nodes physically visited, 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2953511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AAABB"/>
                </a:solidFill>
              </a:rPr>
              <a:t>    No active faults remain in that section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246119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Auto-disconnects when grid is restored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538727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Speed: 6–8 km/h depending on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352544"/>
            <a:ext cx="3758184" cy="2176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4352544"/>
            <a:ext cx="64008" cy="21762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3" y="4462272"/>
            <a:ext cx="35570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Shared State Mechanism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3" y="4873752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global_visited: nodes any agent has arrived 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3" y="5166360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globally_claimed: nodes currently targeted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3" y="5458968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outage_zones: EGraph BFS — unpowered nodes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3" y="5751576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Agents only search within outage_zones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3" y="6044184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Claimed nodes skipped instantly by other agents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84" y="4352544"/>
            <a:ext cx="3758184" cy="21762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15384" y="4352544"/>
            <a:ext cx="64008" cy="21762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61688" y="4462272"/>
            <a:ext cx="355701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</a:rPr>
              <a:t>Path Planning (Dijkstra)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61688" y="4873752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All movement uses Dijkstra on TGraph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61688" y="5166360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Road graph = electrical edges + shortcuts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61688" y="5458968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Shortcuts (road-only): V1–N7, N12–V2, N4–N8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5751576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1 step = 1 hour  ·  speed in km/h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61688" y="6044184"/>
            <a:ext cx="35570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55"/>
                </a:solidFill>
              </a:rPr>
              <a:t>▸  Fractional movement — no snap errors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56448" y="4352544"/>
            <a:ext cx="3758184" cy="21762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21040" y="4462272"/>
            <a:ext cx="3538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688"/>
                </a:solidFill>
              </a:rPr>
              <a:t>Key Insight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4846320"/>
            <a:ext cx="3538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DDEE"/>
                </a:solidFill>
              </a:rPr>
              <a:t>→  No node visited twice across all agents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5138928"/>
            <a:ext cx="3538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DDEE"/>
                </a:solidFill>
              </a:rPr>
              <a:t>→  Search continues until full restoration 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5431536"/>
            <a:ext cx="3538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DDEE"/>
                </a:solidFill>
              </a:rPr>
              <a:t>→    not just until all faults discovered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5724144"/>
            <a:ext cx="3538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DDEE"/>
                </a:solidFill>
              </a:rPr>
              <a:t>→  Complete dark-zone coverage guaranteed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6016752"/>
            <a:ext cx="3538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DDEE"/>
                </a:solidFill>
              </a:rPr>
              <a:t>→  MPS never connects to unsafe section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6309360"/>
            <a:ext cx="3538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CCDDEE"/>
                </a:solidFill>
              </a:rPr>
              <a:t>→  Extra hours = time cost of fault discovery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Results — Extra Hours for Unknown Faults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76656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9688"/>
                </a:solidFill>
              </a:rPr>
              <a:t>Known faults baseline vs unknown faults  ·  All 5 cases  ·  IEEE-13 New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6455664"/>
            <a:ext cx="1188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AABB"/>
                </a:solidFill>
              </a:rPr>
              <a:t>NYU Tandon  ▸  SAI Lab  ▸  DSR Multi-Agent Simulator  ▸  IEEE-13 New Network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61872"/>
            <a:ext cx="1664207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289304"/>
            <a:ext cx="1609343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261872"/>
            <a:ext cx="1975104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12264" y="1289304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Known (h)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261872"/>
            <a:ext cx="1975104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15383" y="1289304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Unknown (h)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61872"/>
            <a:ext cx="1975104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3" y="1289304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Extra 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261872"/>
            <a:ext cx="3602736" cy="4572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1624" y="1289304"/>
            <a:ext cx="35478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Fault Scenario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755648"/>
            <a:ext cx="1664207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57400" y="1755648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755648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755648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60" y="1755648"/>
            <a:ext cx="36027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1755648"/>
            <a:ext cx="1664207" cy="62179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874519"/>
            <a:ext cx="160934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Case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12264" y="1874519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5383" y="1874519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18503" y="1993391"/>
            <a:ext cx="168021" cy="2743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1388" y="1920240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688"/>
                </a:solidFill>
              </a:rPr>
              <a:t>+2h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9912" y="1920240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3 faults in Areas 3,4,5  ·  S3,S4,S5 trip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432304"/>
            <a:ext cx="1664207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57400" y="2432304"/>
            <a:ext cx="1975104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60520" y="2432304"/>
            <a:ext cx="1975104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2432304"/>
            <a:ext cx="1975104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2432304"/>
            <a:ext cx="3602736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2432304"/>
            <a:ext cx="1664207" cy="6217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2551176"/>
            <a:ext cx="160934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Case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12264" y="255117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3" y="255117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15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18503" y="2670048"/>
            <a:ext cx="420052" cy="274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93420" y="2596896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+5h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39912" y="2596896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Faults in Areas 1,4,5  ·  total blackout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3108960"/>
            <a:ext cx="1664207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057400" y="3108960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3108960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108960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66760" y="3108960"/>
            <a:ext cx="36027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3108960"/>
            <a:ext cx="1664207" cy="62179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3227832"/>
            <a:ext cx="160934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Case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12264" y="322783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15383" y="322783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18503" y="3346704"/>
            <a:ext cx="420052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93420" y="3273552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</a:rPr>
              <a:t>+5h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9912" y="3273552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3 faults in Areas 1,2  ·  S1 trips (total blackout)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785615"/>
            <a:ext cx="1664207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057400" y="3785615"/>
            <a:ext cx="1975104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60520" y="3785615"/>
            <a:ext cx="1975104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63640" y="3785615"/>
            <a:ext cx="1975104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366760" y="3785615"/>
            <a:ext cx="3602736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" y="3785615"/>
            <a:ext cx="1664207" cy="621792"/>
          </a:xfrm>
          <a:prstGeom prst="rect">
            <a:avLst/>
          </a:prstGeom>
          <a:solidFill>
            <a:srgbClr val="6C3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3904487"/>
            <a:ext cx="160934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Case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12264" y="3904487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15383" y="3904487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19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18503" y="4023359"/>
            <a:ext cx="672084" cy="274320"/>
          </a:xfrm>
          <a:prstGeom prst="rect">
            <a:avLst/>
          </a:prstGeom>
          <a:solidFill>
            <a:srgbClr val="6C3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5451" y="3950207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358A"/>
                </a:solidFill>
              </a:rPr>
              <a:t>+8h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9912" y="3950207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Area1 feeder cut + Areas 3,4  ·  level-10 fault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4462272"/>
            <a:ext cx="1664207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57400" y="4462272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160520" y="4462272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4462272"/>
            <a:ext cx="1975104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366760" y="4462272"/>
            <a:ext cx="36027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74320" y="4462272"/>
            <a:ext cx="1664207" cy="62179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4581144"/>
            <a:ext cx="160934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Case 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12264" y="458114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</a:rP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15383" y="458114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</a:rPr>
              <a:t>29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18503" y="4700016"/>
            <a:ext cx="1344168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17536" y="4626864"/>
            <a:ext cx="566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5C00"/>
                </a:solidFill>
              </a:rPr>
              <a:t>+16h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39912" y="4626864"/>
            <a:ext cx="3511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55"/>
                </a:solidFill>
              </a:rPr>
              <a:t>Area1 feeder + Areas 2,5  ·  level-10 fault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276088"/>
            <a:ext cx="11640312" cy="1024128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5349240"/>
            <a:ext cx="7315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Average extra hours for unknown faults:  +7.2h  across all 5 cases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7200" y="5751576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9688"/>
                </a:solidFill>
              </a:rPr>
              <a:t>Case 5 worst (+16h) — level-10 fault + wide search coverage required across all areas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7160" y="6455664"/>
            <a:ext cx="1188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AAABB"/>
                </a:solidFill>
              </a:rPr>
              <a:t>NYU Tandon  ▸  SAI Lab  ▸  DSR Multi-Agent Simulator  ▸  IEEE-13 New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