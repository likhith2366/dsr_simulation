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29184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DSR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6E4F7"/>
                </a:solidFill>
              </a:rPr>
              <a:t>Architecture Update  —  IEEE-13 New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E3EE"/>
                </a:solidFill>
              </a:rPr>
              <a:t>Simulator / Policy Separation  ·  Multi-Agent Coordination  ·  Unknown Fault Discovery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2514600" cy="1371600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2E6E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Core Modules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3566160"/>
            <a:ext cx="2514600" cy="1371600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63931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2E6E"/>
                </a:solidFill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315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Policy Callbacks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3566160"/>
            <a:ext cx="2514600" cy="1371600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63931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2E6E"/>
                </a:solidFill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315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Switches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3566160"/>
            <a:ext cx="2514600" cy="1371600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639312"/>
            <a:ext cx="2514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2E6E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3159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7788"/>
                </a:solidFill>
              </a:rPr>
              <a:t>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7788"/>
                </a:solidFill>
              </a:rPr>
              <a:t>NYU Tandon School of Engineering  |  SAI Lab  |  2025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IEEE-13 New Network —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5 isolated areas  |  8 sectional switches  |  4 tie nodes  |  11 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45720" cy="233172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" y="1280160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Area 1 —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" y="168249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Nodes: N1, N2, N3, N4, N5, N6, N7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" y="204825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Always powered by main grid feeder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" y="2432304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Switches: S1, S2 (sectional)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188720"/>
            <a:ext cx="45720" cy="233172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5" y="1280160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Area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5" y="168249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Nodes: N8, N9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34255" y="204825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Fault-isolated section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432304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Switches: S4, S5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79" y="1188720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79" y="1188720"/>
            <a:ext cx="45720" cy="233172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11896" y="1280160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Area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168249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Nodes: N3, N10, N11, N12, N13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204825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Fault-isolated section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2432304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Switch: S3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3703320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3703320"/>
            <a:ext cx="45720" cy="233172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3794759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Tie Nodes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" y="419709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V1, V2, V3, 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" y="456285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Connect areas via open tie switches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" y="4946904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Switches: S6, S7, S8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703320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3703320"/>
            <a:ext cx="45720" cy="233172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5" y="3794759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Repair Crews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34255" y="419709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RC1 (4 km/h)  RC2 (5 km/h)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456285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Move on TGraph, repair faults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4946904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Efficiency = 3 units/hour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3703320"/>
            <a:ext cx="3749039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79" y="3703320"/>
            <a:ext cx="45720" cy="233172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3794759"/>
            <a:ext cx="3566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Scout + MPS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419709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Scout1 (10 km/h)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11896" y="4562856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Discovers hidden faults by visiting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11896" y="4946904"/>
            <a:ext cx="356615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MPS1 (8 km/h) — mobile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Architecture — Simulator / Policy 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environment.py = pure physics  |  policy.py = all decisions  |  PolicyState = filtered 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57784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45720" cy="534924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E6E"/>
                </a:solidFill>
              </a:rPr>
              <a:t>environment.py  —  Pure Physics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6093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No decision logic — fires callbacks to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56816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Network power flow and load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4028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Agent movement along TGraph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52374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Fault discovery when agent arrives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80720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Switch auto-management on fault repair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09067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55FB5"/>
                </a:solidFill>
              </a:rPr>
              <a:t>Fires 6 callbacks to policy.py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483864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E6E"/>
                </a:solidFill>
              </a:rPr>
              <a:t>PolicyState — what the policy sees: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767328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state.rcs / scouts / 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050791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state.discovered_faults  (found 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334255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state.dark_nodes  (switch nodes excluded)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617719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state.switches  — open/closed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901183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state.loads  — P, Q, W,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184647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state.env  — action calls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44768" y="1188720"/>
            <a:ext cx="5815584" cy="5349240"/>
          </a:xfrm>
          <a:prstGeom prst="rect">
            <a:avLst/>
          </a:prstGeom>
          <a:solidFill>
            <a:srgbClr val="0D2E6E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44768" y="1188720"/>
            <a:ext cx="45720" cy="5349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26187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policy.py  —  All Decisions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6093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DE3EE"/>
                </a:solidFill>
              </a:rPr>
              <a:t>Reads PolicyState, calls actions — swappable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95681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6 Callbacks: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40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on_setup(state, known_faults)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2523744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on_scout_arrived(state, scout_id, node)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8072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on_rc_idle(state, rc, events)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090672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on_fault_discovered(state, events)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3741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on_mps_arrived(state, mps, node, events)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6576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on_mps_idle(state, mps, events)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050791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Actions via state.env: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334255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  state.env.move_rc(rc_id, node)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617719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  state.env.move_scout(scout_id, node)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901183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  rc.start_repair(fault_id)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5184647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  mps.connect() / mps.move_to(path, dist)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468111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  state.env.open_switch / close_switch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861303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4F7"/>
                </a:solidFill>
              </a:rPr>
              <a:t>Swap GreedyPolicy to LLMPolicy: zero sim changes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Fix 1 + 2  —  PolicyState &amp; Undiscovered Faults Hidden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Policy sees only what was physically discovered  |  Unknown fault mode = realistic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39496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45720" cy="534924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E6E"/>
                </a:solidFill>
              </a:rPr>
              <a:t>PolicyState — Filtered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1907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state.rcs      — position, state, exact 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00253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state.scouts   — position, state, exact 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28600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state.mps      — position, state, energy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56946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state.switches — {S1: open/closed, ...}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85292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state.dark_nodes — outage zones (no switch nodes)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3639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state.discovered_faults — found faults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41985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state.loads    — {L1: P, Q, W, state}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70332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state.env      — for action calls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078223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AA2020"/>
                </a:solidFill>
              </a:rPr>
              <a:t>Policy cannot see: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40740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2020"/>
                </a:solidFill>
              </a:rPr>
              <a:t>  x  Undiscovered fault locations or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690871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2020"/>
                </a:solidFill>
              </a:rPr>
              <a:t>  x  Switch internal power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974335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2020"/>
                </a:solidFill>
              </a:rPr>
              <a:t>  x  Nodes not yet physically visited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6168" y="1188720"/>
            <a:ext cx="6035040" cy="5349240"/>
          </a:xfrm>
          <a:prstGeom prst="rect">
            <a:avLst/>
          </a:prstGeom>
          <a:solidFill>
            <a:srgbClr val="0D2E6E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16168" y="1188720"/>
            <a:ext cx="45720" cy="5349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126187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Fault Discovery Timeline — Case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737360"/>
            <a:ext cx="5961888" cy="87782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81051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E4F7"/>
                </a:solidFill>
              </a:rPr>
              <a:t>t=0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1810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faults: []   — policy sees nothing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121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E3EE"/>
                </a:solidFill>
              </a:rPr>
              <a:t>RC2 starts at N11 = DP2 location, auto-discovers + repairs immediately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706624"/>
            <a:ext cx="5961888" cy="87782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277977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E4F7"/>
                </a:solidFill>
              </a:rPr>
              <a:t>t=1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277977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Scout1 arrives at V1  -&gt;  faults: ['DP2']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090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E3EE"/>
                </a:solidFill>
              </a:rPr>
              <a:t>RC2 already repairing, no redirect needed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675887"/>
            <a:ext cx="5961888" cy="87782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60" y="37490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E4F7"/>
                </a:solidFill>
              </a:rPr>
              <a:t>t=3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RC1 arrives at N3  -&gt;  faults: ['DP1', 'DP2']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405993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E3EE"/>
                </a:solidFill>
              </a:rPr>
              <a:t>Policy: RC1.move_to('N10')  [traverse fault edge N3-&gt;N10]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645152"/>
            <a:ext cx="5961888" cy="87782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80760" y="47183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E4F7"/>
                </a:solidFill>
              </a:rPr>
              <a:t>t=5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7183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RC2 arrives at N8  -&gt;  faults: ['DP1','DP2','DP3']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E3EE"/>
                </a:solidFill>
              </a:rPr>
              <a:t>Policy: RC2.move_to('N9')  [traverse fault edge N8-&gt;N9]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5614416"/>
            <a:ext cx="5961888" cy="87782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60" y="56875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6E4F7"/>
                </a:solidFill>
              </a:rPr>
              <a:t>t=8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5687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All faults repaired  —  11/11 loads 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9984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DDE3EE"/>
                </a:solidFill>
              </a:rPr>
              <a:t>reward = 11800 / 11800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Fix 3  —  Switch Nodes Excluded from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Switches are infrastructure  |  Scouts and RCs only visit real bus/load 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39496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45720" cy="534924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E6E"/>
                </a:solidFill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19072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  TGraph includes switch nodes as path waypoints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029967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  Example: shortest path N2-&gt;N3 goes N2-&gt;S3-&gt;N3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40863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  But S1-S8 are not load or bus nodes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651759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2020"/>
                </a:solidFill>
              </a:rPr>
              <a:t>  Scout visiting S3 = wasted step, no fault found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62655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AA2020"/>
                </a:solidFill>
              </a:rPr>
              <a:t>  dark_nodes included switch nodes = incorrect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383279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E6E"/>
                </a:solidFill>
              </a:rPr>
              <a:t>The 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749039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switch_nodes = {n for n,t in egraph.nodes if t=='SWITCH'}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4059935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search_pool excludes switch_nodes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370831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dark_nodes excludes switch_nodes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681727"/>
            <a:ext cx="5166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RC and Scout search excludes switch_nodes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16168" y="1188720"/>
            <a:ext cx="6035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16168" y="1188720"/>
            <a:ext cx="45720" cy="2377440"/>
          </a:xfrm>
          <a:prstGeom prst="rect">
            <a:avLst/>
          </a:prstGeom>
          <a:solidFill>
            <a:srgbClr val="A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0760" y="126187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2020"/>
                </a:solidFill>
              </a:rPr>
              <a:t>Before — Switch shown in position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170078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RC1:   'S3-&gt;N3  (4.0km left -&gt; N3)'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0116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MPS1:  'N8-&gt;S4  (2.0km left -&gt; N10)'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234086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7788"/>
                </a:solidFill>
              </a:rPr>
              <a:t>Confusing — S3, S4 are switches, not real nodes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16168" y="3749039"/>
            <a:ext cx="6035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16168" y="3749039"/>
            <a:ext cx="45720" cy="2377440"/>
          </a:xfrm>
          <a:prstGeom prst="rect">
            <a:avLst/>
          </a:prstGeom>
          <a:solidFill>
            <a:srgbClr val="15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3822191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57A3B"/>
                </a:solidFill>
              </a:rPr>
              <a:t>After — Real node-to-node span shown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26110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RC1:   'N2-&gt;N3  (4.0km left -&gt; N3)'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457200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MPS1:  'N8-&gt;N3  (2.0km left -&gt; N10)'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490118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7788"/>
                </a:solidFill>
              </a:rPr>
              <a:t>Walk path, skip switches, show nearest real nodes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5175504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67788"/>
                </a:solidFill>
              </a:rPr>
              <a:t>exact_position(tgraph, switch_nodes) in all 3 agent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Fix 4  —  Live Terminal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Every callback prints state and actions in real time  |  No external script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94360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45720" cy="534924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E6E"/>
                </a:solidFill>
              </a:rPr>
              <a:t>What Prints Every Step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700784"/>
            <a:ext cx="5888736" cy="28346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728216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0D2E6E"/>
                </a:solidFill>
              </a:rPr>
              <a:t>SIMULATOR -&gt; POLICY  [on_rc_idle]  t=5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2002536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029967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  RC2: pos=N8  repair_target=None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304288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331720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  rcs    : {RC1: N10, RC2: N8}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606040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633472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  scouts : {Scout1: N13-&gt;V4 (5.0km -&gt; V4)}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907792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935224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  mps    : {MPS1: N10}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209544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3236976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  switches: {S1:closed, S3:open, S4:open}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3511296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538728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  dark   : [N8, N9, N10, N11, ...]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813048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3840480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  faults : [DP1, DP2, DP3]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114800"/>
            <a:ext cx="5888736" cy="283464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4142232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1" i="0">
                <a:solidFill>
                  <a:srgbClr val="155FB5"/>
                </a:solidFill>
              </a:rPr>
              <a:t>POLICY -&gt; SIMULATOR  [actions]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4416552"/>
            <a:ext cx="5888736" cy="283464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4443984"/>
            <a:ext cx="5715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155FB5"/>
                </a:solidFill>
              </a:rPr>
              <a:t>  RC2.move_to('N9')  [traverse fault edge]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809744"/>
            <a:ext cx="5715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D2E6E"/>
                </a:solidFill>
              </a:rPr>
              <a:t>Exact in-transit position: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512064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55FB5"/>
                </a:solidFill>
              </a:rPr>
              <a:t>  N13-&gt;V4 (5.0km left -&gt; V4)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" y="5394960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7788"/>
                </a:solidFill>
              </a:rPr>
              <a:t>  = between N13 and V4, 5km remaining to target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19088" y="1188720"/>
            <a:ext cx="5486400" cy="5349240"/>
          </a:xfrm>
          <a:prstGeom prst="rect">
            <a:avLst/>
          </a:prstGeom>
          <a:solidFill>
            <a:srgbClr val="0D2E6E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19088" y="1188720"/>
            <a:ext cx="45720" cy="5349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12618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6 Callbacks — Decision Points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46520" y="1737360"/>
            <a:ext cx="5431536" cy="758952"/>
          </a:xfrm>
          <a:prstGeom prst="rect">
            <a:avLst/>
          </a:prstGeom>
          <a:solidFill>
            <a:srgbClr val="1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17922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E4F7"/>
                </a:solidFill>
              </a:rPr>
              <a:t>on_setup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21214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t=0 — initial agent assignments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2560320"/>
            <a:ext cx="5431536" cy="758952"/>
          </a:xfrm>
          <a:prstGeom prst="rect">
            <a:avLst/>
          </a:prstGeom>
          <a:solidFill>
            <a:srgbClr val="1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261518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E4F7"/>
                </a:solidFill>
              </a:rPr>
              <a:t>on_scout_arrived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294436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scout reaches a node — send to next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3383279"/>
            <a:ext cx="5431536" cy="758952"/>
          </a:xfrm>
          <a:prstGeom prst="rect">
            <a:avLst/>
          </a:prstGeom>
          <a:solidFill>
            <a:srgbClr val="1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43814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E4F7"/>
                </a:solidFill>
              </a:rPr>
              <a:t>on_fault_discovered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673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new fault revealed — redirect RCs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4206240"/>
            <a:ext cx="5431536" cy="758952"/>
          </a:xfrm>
          <a:prstGeom prst="rect">
            <a:avLst/>
          </a:prstGeom>
          <a:solidFill>
            <a:srgbClr val="1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4261103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E4F7"/>
                </a:solidFill>
              </a:rPr>
              <a:t>on_rc_idle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459028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RC has no task — repair, search, or move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5029200"/>
            <a:ext cx="5431536" cy="758952"/>
          </a:xfrm>
          <a:prstGeom prst="rect">
            <a:avLst/>
          </a:prstGeom>
          <a:solidFill>
            <a:srgbClr val="1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508406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E4F7"/>
                </a:solidFill>
              </a:rPr>
              <a:t>on_mps_arrived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4132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MPS arrives — connect if section safe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5852160"/>
            <a:ext cx="5431536" cy="758952"/>
          </a:xfrm>
          <a:prstGeom prst="rect">
            <a:avLst/>
          </a:prstGeom>
          <a:solidFill>
            <a:srgbClr val="1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59070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6E4F7"/>
                </a:solidFill>
              </a:rPr>
              <a:t>on_mps_idle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623620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MPS standing by — connect or reposition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Fix 5 + 6  —  Unknown Faults Only  &amp;  Output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Removed known-faults runs  |  summary.json per case  |  bug fixes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39496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45720" cy="534924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E6E"/>
                </a:solidFill>
              </a:rPr>
              <a:t>Changes to run_cases.py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007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Known-faults runs removed from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842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Only UNKNOWN mode — realistic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E6E"/>
                </a:solidFill>
              </a:rPr>
              <a:t>Saves output/summary.json: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64261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{ "case": "Case1", "hours": 8, "reward": 11800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260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{ "case": "Case2", "hours": 13, "reward": 11800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20954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67788"/>
                </a:solidFill>
              </a:rPr>
              <a:t>  ...one entry per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5844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E6E"/>
                </a:solidFill>
              </a:rPr>
              <a:t>Bug fixes: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86791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2020"/>
                </a:solidFill>
              </a:rPr>
              <a:t>  repair_lag showed -h for faults found at t=0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513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  Fix: if dp.discovered_at_step is not None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43484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7A3B"/>
                </a:solidFill>
              </a:rPr>
              <a:t>  Now shows repair_lag=2h correctly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09743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2020"/>
                </a:solidFill>
              </a:rPr>
              <a:t>  Em-dash encoding broke on Windows terminal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9320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  Replaced Unicode dash with ASCII --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376671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57A3B"/>
                </a:solidFill>
              </a:rPr>
              <a:t>  MPS standing by -- awaiting section clearance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16168" y="1188720"/>
            <a:ext cx="6035040" cy="5349240"/>
          </a:xfrm>
          <a:prstGeom prst="rect">
            <a:avLst/>
          </a:prstGeom>
          <a:solidFill>
            <a:srgbClr val="0D2E6E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16168" y="1188720"/>
            <a:ext cx="45720" cy="5349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0760" y="126187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Fault Timeline Output — Case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1737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DP1: discovered=t=3h   repaired=t=6h   repair_lag=3h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01167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     by=RC:RC1   edge N3-N10  demand=4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3774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DP2: discovered=t=0h   repaired=t=2h   repair_lag=2h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6517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     by=RC:RC2   node N11  (RC2 started there)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301751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DP3: discovered=t=5h   repaired=t=8h   repair_lag=3h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2918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     by=RC:RC2   edge N8-N9  demand=4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65759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6E4F7"/>
                </a:solidFill>
              </a:rPr>
              <a:t>  Agent Stats: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93191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RC1:    10km  |  4h moving  |  2h repairing  |  2h idle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42062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RC2:    12km  |  4h moving  |  4h repairing  |  0h idle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4805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Scout1: 33km  |  6h moving  |  7 nodes visited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75487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MPS1:   14km  |  3h moving  |  0h connected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MPS &amp; Switch Behavior —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MPS waits for section clearance  |  Switches auto-close on repair  |  All cases 11/11 loads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394960" cy="5349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88720"/>
            <a:ext cx="45720" cy="5349240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261872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E6E"/>
                </a:solidFill>
              </a:rPr>
              <a:t>Switch Auto-Management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7007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Managed by simulator, not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9842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67788"/>
                </a:solidFill>
              </a:rPr>
              <a:t>Policy can call open/close manually (unused by greedy)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E6E"/>
                </a:solidFill>
              </a:rPr>
              <a:t>On fault detected (setup):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64261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_open_section_switches(section)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26080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Isolates faulted section from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30098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E6E"/>
                </a:solidFill>
              </a:rPr>
              <a:t>On fault repaired: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584448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_close_section_switches(section)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3867912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_attempt_tie_restoration(section)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4151376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Closes one tie switch if section still dark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4526279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2E6E"/>
                </a:solidFill>
              </a:rPr>
              <a:t>Case 1 example: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809743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t=0:  S3 open  (DP1 on N3-N10)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5093207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t=0:  S4 open  (DP3 on N8-N9)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5376671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t=6:  S3 closes  (DP1 repaired by RC1)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5660135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22233"/>
                </a:solidFill>
              </a:rPr>
              <a:t>  t=8:  S4 closes  (DP3 repaired by RC2)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16168" y="1188720"/>
            <a:ext cx="6035040" cy="5349240"/>
          </a:xfrm>
          <a:prstGeom prst="rect">
            <a:avLst/>
          </a:prstGeom>
          <a:solidFill>
            <a:srgbClr val="0D2E6E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16168" y="1188720"/>
            <a:ext cx="45720" cy="5349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126187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MPS — Mobile Power Source Behavior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17373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Moves to node with highest unserved load 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01167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Connects only when section is safe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228599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Stands by if active fault blocks the section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6517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4F7"/>
                </a:solidFill>
              </a:rPr>
              <a:t>Case 1 — MPS1 trace: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292607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t=0:  @ N4  -&gt;  moves to N10 (2 loads)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320039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t=2:  arrives N10  -&gt;  standing by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347471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       DP1 edge N3-N10 still active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7490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t=6:  DP1 repaired  -&gt;  MPS moves to N8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80760" y="40233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t=7:  arrives N8  -&gt;  standing 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429767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       DP3 edge N8-N9 still 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80760" y="457199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t=8:  DP3 repaired  -&gt;  grid restores directly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80760" y="493775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Cases 1-4: MPS = 0h connected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521207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Always arrives in faulted section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548639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Fault repaired before MPS can connect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576071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Case 5: MPS connects briefly at t=18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6035039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3EE"/>
                </a:solidFill>
              </a:rPr>
              <a:t>  Disconnects same step (grid restored)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Case 1 — Simulator / Policy Communication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DP1=edge N3-N10  |  DP2=node N11  |  DP3=edge N8-N9  |  8 hours total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61288"/>
            <a:ext cx="621792" cy="53766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1161288"/>
            <a:ext cx="5321808" cy="347472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2784" y="1161288"/>
            <a:ext cx="402336" cy="3474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1161288"/>
            <a:ext cx="5239512" cy="347472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188720"/>
            <a:ext cx="6217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11887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SIMULATOR -&gt; POLICY  (state)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188720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7416" y="1188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POLICY -&gt; SIMULATOR  (actions)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527048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" y="1673351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1527048"/>
            <a:ext cx="5321808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16184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on_setup  |  RC1@N2  RC2@N11  Scout1@N2  MPS1@N4  |  faults: []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1527048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673351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20840" y="1527048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75704" y="1618488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move_scout-&gt;V1   move_rc(RC1)-&gt;N3   RC2.start_repair(DP2)   MPS1-&gt;N10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148840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229514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" y="2148840"/>
            <a:ext cx="5321808" cy="58521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22402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on_scout_arrived V1  |  faults: [DP2]  |  RC1: N2-&gt;N3 (4km left)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72784" y="2148840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2784" y="2295144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148840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75704" y="2240280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move_scout-&gt;V2  |  on_fault_discovered: (none) RC2 already repairing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770632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291693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" y="2770632"/>
            <a:ext cx="5321808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" y="28620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on_mps_arrived N10  |  RC2 repaired DP2 at t=2h  |  switches: S3 open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2784" y="2770632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72784" y="2916936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0840" y="2770632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75704" y="2862072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MPS1 standing by -- awaiting section clearance  (DP1 still active)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392424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8600" y="3538728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3392424"/>
            <a:ext cx="5321808" cy="58521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3483864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on_rc_idle RC1@N3  |  faults: [DP1, DP2]  |  DP1 edge N3-N10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4" y="3392424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72784" y="3538728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3392424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75704" y="3483864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RC1.move_to(N10) [traverse fault edge]   RC2.move_to(N8)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4014216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8600" y="4160520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96112" y="4014216"/>
            <a:ext cx="5321808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0976" y="41056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on_rc_idle RC1@N10 repair_target=DP1  |  both RCs traversed edge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2784" y="4014216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72784" y="4160520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4014216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75704" y="4105656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RC1.start_repair('DP1')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636008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4782312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6112" y="4636008"/>
            <a:ext cx="5321808" cy="58521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6" y="47274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on_rc_idle RC2@N8  |  faults: [DP1,DP2,DP3]  |  DP3 edge N8-N9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72784" y="4636008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72784" y="4782312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20840" y="4636008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75704" y="4727448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RC2.move_to(N9) [traverse fault edge]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5257800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8600" y="5404104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" y="5257800"/>
            <a:ext cx="5321808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0976" y="5349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RC1 repaired DP1  |  S3 closes  |  dark: [N8, N9, V4]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72784" y="5257800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72784" y="5404104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720840" y="5257800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775704" y="5349240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MPS1.move_to(N8)   RC2.start_repair('DP3')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5879592"/>
            <a:ext cx="62179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28600" y="6025896"/>
            <a:ext cx="621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t=8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96112" y="5879592"/>
            <a:ext cx="5321808" cy="585216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" y="59710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RC2 repaired DP3  |  S4 closes  |  dark: [V4]  |  All done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72784" y="5879592"/>
            <a:ext cx="402336" cy="585216"/>
          </a:xfrm>
          <a:prstGeom prst="rect">
            <a:avLst/>
          </a:prstGeom>
          <a:solidFill>
            <a:srgbClr val="155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72784" y="6025896"/>
            <a:ext cx="402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-&gt;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20840" y="5879592"/>
            <a:ext cx="5239512" cy="585216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775704" y="5971032"/>
            <a:ext cx="5138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6E4F7"/>
                </a:solidFill>
              </a:rPr>
              <a:t>All faults repaired  |  11/11 loads ON  |  reward = 11800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Results — All 5 Cases  (Unknown Faults)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9494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3EE"/>
                </a:solidFill>
              </a:rPr>
              <a:t>Greedy policy  |  IEEE-13 New Network  |  All cases: 11/11 loads  |  reward = 11800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20256"/>
            <a:ext cx="1179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DDE3EE"/>
                </a:solidFill>
              </a:rPr>
              <a:t>NYU Tandon  |  SAI Lab  |  DSR Multi-Agent Simulator  |  IEEE-13 New Network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61288"/>
            <a:ext cx="777240" cy="3474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118872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1161288"/>
            <a:ext cx="3291840" cy="3474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Fault Locations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7408" y="1161288"/>
            <a:ext cx="2468880" cy="3474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1416" y="1188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Start Positions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31152" y="1161288"/>
            <a:ext cx="868680" cy="3474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18872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Hours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161288"/>
            <a:ext cx="1188720" cy="3474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1188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Reward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16568" y="1161288"/>
            <a:ext cx="2834640" cy="347472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RC / Scout stats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1527048"/>
            <a:ext cx="7772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1527048"/>
            <a:ext cx="32918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1527048"/>
            <a:ext cx="246888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31152" y="1527048"/>
            <a:ext cx="86868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527048"/>
            <a:ext cx="118872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16568" y="1527048"/>
            <a:ext cx="28346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1801368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Case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1581912"/>
            <a:ext cx="3163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DP1: edge N3-N10
DP2: node N11
DP3: edge N8-N9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1581912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RC1@N2  RC2@N11
Scout@N2  MPS@N4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1746504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7A3B"/>
                </a:solidFill>
              </a:rPr>
              <a:t>8h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36992" y="1801368"/>
            <a:ext cx="1042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</a:rPr>
              <a:t>11800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0576" y="1581912"/>
            <a:ext cx="27066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788"/>
                </a:solidFill>
              </a:rPr>
              <a:t>RC1: 4h mv, 2h rep
RC2: 4h mv, 4h rep
Scout: 33km, 7 nodes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423160"/>
            <a:ext cx="77724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" y="2423160"/>
            <a:ext cx="329184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07408" y="2423160"/>
            <a:ext cx="246888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31152" y="2423160"/>
            <a:ext cx="86868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2423160"/>
            <a:ext cx="118872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16568" y="2423160"/>
            <a:ext cx="283464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2608" y="2697479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Case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2478024"/>
            <a:ext cx="3163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DP1: edge N10-N12
DP2: node N13
DP3: edge N6-N7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2478024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RC1@N2  RC2@N9
Scout@N2  MPS@N11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1152" y="2642615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5FB5"/>
                </a:solidFill>
              </a:rPr>
              <a:t>13h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6992" y="2697479"/>
            <a:ext cx="1042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</a:rPr>
              <a:t>11800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2478024"/>
            <a:ext cx="27066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788"/>
                </a:solidFill>
              </a:rPr>
              <a:t>RC1: 10h mv, 3h rep
RC2: 4h mv, 2h rep, 7h idle
Scout: 29km, 8 nodes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319272"/>
            <a:ext cx="7772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51560" y="3319272"/>
            <a:ext cx="32918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07408" y="3319272"/>
            <a:ext cx="246888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31152" y="3319272"/>
            <a:ext cx="86868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63840" y="3319272"/>
            <a:ext cx="118872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16568" y="3319272"/>
            <a:ext cx="28346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2608" y="3593591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Case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" y="3374136"/>
            <a:ext cx="3163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DP1: edge N4-N5
DP2: edge N6-N7
DP3: edge N2-N6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71416" y="3374136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RC1@N1  RC2@V2
Scout@N1  MPS@N2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1152" y="3538728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7A3B"/>
                </a:solidFill>
              </a:rPr>
              <a:t>8h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6992" y="3593591"/>
            <a:ext cx="1042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</a:rPr>
              <a:t>11800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576" y="3374136"/>
            <a:ext cx="27066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788"/>
                </a:solidFill>
              </a:rPr>
              <a:t>RC1: 4h mv, 2h rep
RC2: 6h mv, 2h rep
Scout: 32km, 8 nodes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4215383"/>
            <a:ext cx="77724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51560" y="4215383"/>
            <a:ext cx="329184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07408" y="4215383"/>
            <a:ext cx="246888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31152" y="4215383"/>
            <a:ext cx="86868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63840" y="4215383"/>
            <a:ext cx="118872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16568" y="4215383"/>
            <a:ext cx="2834640" cy="850392"/>
          </a:xfrm>
          <a:prstGeom prst="rect">
            <a:avLst/>
          </a:prstGeom>
          <a:solidFill>
            <a:srgbClr val="D6E4F7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8" y="4489703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Case 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5568" y="4270247"/>
            <a:ext cx="3163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DP1: edge N2-N6 (cap=2)
DP2: edge N8-N9
DP3: node N10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71416" y="4270247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RC1@N4  RC2@N8
Scout@N4  MPS@V3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1152" y="4434840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55FB5"/>
                </a:solidFill>
              </a:rPr>
              <a:t>13h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36992" y="4489703"/>
            <a:ext cx="1042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</a:rPr>
              <a:t>11800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80576" y="4270247"/>
            <a:ext cx="27066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788"/>
                </a:solidFill>
              </a:rPr>
              <a:t>RC1: 9h mv, 4h rep
RC2: 9h mv, 4h rep
Scout: 53km, 13 nodes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5111496"/>
            <a:ext cx="7772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1560" y="5111496"/>
            <a:ext cx="32918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407408" y="5111496"/>
            <a:ext cx="246888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31152" y="5111496"/>
            <a:ext cx="86868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863840" y="5111496"/>
            <a:ext cx="118872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16568" y="5111496"/>
            <a:ext cx="2834640" cy="850392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2608" y="5385816"/>
            <a:ext cx="71323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2E6E"/>
                </a:solidFill>
              </a:rPr>
              <a:t>Case 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" y="5166359"/>
            <a:ext cx="31638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DP1: edge N2-N6 (cap=2)
DP2: node N13
DP3: edge N4-N5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71416" y="5166359"/>
            <a:ext cx="234086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22233"/>
                </a:solidFill>
              </a:rPr>
              <a:t>RC1@N8  RC2@N2
Scout@N8  MPS@V3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31152" y="5330952"/>
            <a:ext cx="868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A2020"/>
                </a:solidFill>
              </a:rPr>
              <a:t>18h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36992" y="5385816"/>
            <a:ext cx="10424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2233"/>
                </a:solidFill>
              </a:rPr>
              <a:t>11800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0576" y="5166359"/>
            <a:ext cx="27066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67788"/>
                </a:solidFill>
              </a:rPr>
              <a:t>RC1: 16h mv, 2h rep
RC2: 12h mv, 6h rep
Scout: 35km, 9 nodes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6016752"/>
            <a:ext cx="11731752" cy="457200"/>
          </a:xfrm>
          <a:prstGeom prst="rect">
            <a:avLst/>
          </a:prstGeom>
          <a:solidFill>
            <a:srgbClr val="0D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60624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All 5 cases achieve full restoration  |  Unknown faults add 0-10h overhead vs known mode  |  Greedy baseline policy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